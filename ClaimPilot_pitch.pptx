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40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ClaimPilot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claim — call, photo, PDF or email — to an auditable file in minutes.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flow with the OpenAI Agents SDK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Track 1: Industry / Business Transformation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49834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0932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983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Codex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0332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synthetic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Notice of Loss (FNOL) is slow, manual and inconsistent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109728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26–48 h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claim reaches the right adjuster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661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920240"/>
            <a:ext cx="3566160" cy="109728"/>
          </a:xfrm>
          <a:prstGeom prst="rect">
            <a:avLst/>
          </a:prstGeom>
          <a:solidFill>
            <a:srgbClr val="F4A2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860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590288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are reassigned due to inconsistent triage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661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0" y="1920240"/>
            <a:ext cx="356616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4–8 h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339328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work per claim (extract, validate, decide)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920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7548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arrives by email, form or call, in free format. A handler reads it, extracts the data, looks up the policy, checks coverage and decides the route — by hand, over and over.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· HCLTech–OpenAI Agentic AI Hackathon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evidence in — an auditable decision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2697480" cy="603504"/>
          </a:xfrm>
          <a:prstGeom prst="roundRect">
            <a:avLst>
              <a:gd name="adj" fmla="val 15152"/>
            </a:avLst>
          </a:prstGeom>
          <a:solidFill>
            <a:srgbClr val="E9EE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556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call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355848" y="1755648"/>
            <a:ext cx="2697480" cy="603504"/>
          </a:xfrm>
          <a:prstGeom prst="roundRect">
            <a:avLst>
              <a:gd name="adj" fmla="val 15152"/>
            </a:avLst>
          </a:prstGeom>
          <a:solidFill>
            <a:srgbClr val="E9EE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202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14216" y="17556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63056" y="1755648"/>
            <a:ext cx="2697480" cy="603504"/>
          </a:xfrm>
          <a:prstGeom prst="roundRect">
            <a:avLst>
              <a:gd name="adj" fmla="val 15152"/>
            </a:avLst>
          </a:prstGeom>
          <a:solidFill>
            <a:srgbClr val="E9EEF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21424" y="17556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scan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970264" y="1755648"/>
            <a:ext cx="2697480" cy="603504"/>
          </a:xfrm>
          <a:prstGeom prst="roundRect">
            <a:avLst>
              <a:gd name="adj" fmla="val 15152"/>
            </a:avLst>
          </a:prstGeom>
          <a:solidFill>
            <a:srgbClr val="E9EEF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19202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28632" y="17556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text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48640" y="24505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into one claim dossier by an evidence-intake agent — transcription, vision and document parsing.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2944368"/>
            <a:ext cx="35204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22960" y="3163824"/>
            <a:ext cx="658368" cy="658368"/>
          </a:xfrm>
          <a:prstGeom prst="ellipse">
            <a:avLst/>
          </a:prstGeom>
          <a:solidFill>
            <a:srgbClr val="111A3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31012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31638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822960" y="39136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all evidence into structured JSON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584448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370832" y="2944368"/>
            <a:ext cx="35204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645152" y="3163824"/>
            <a:ext cx="658368" cy="658368"/>
          </a:xfrm>
          <a:prstGeom prst="ellipse">
            <a:avLst/>
          </a:prstGeom>
          <a:solidFill>
            <a:srgbClr val="111A3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310128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22392" y="31638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2000" dirty="0"/>
          </a:p>
        </p:txBody>
      </p:sp>
      <p:sp>
        <p:nvSpPr>
          <p:cNvPr id="27" name="Text 18"/>
          <p:cNvSpPr/>
          <p:nvPr/>
        </p:nvSpPr>
        <p:spPr>
          <a:xfrm>
            <a:off x="4645152" y="39136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→ coverage + verbatim clause citation</a:t>
            </a:r>
            <a:endParaRPr lang="en-US" sz="12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3584448"/>
            <a:ext cx="274320" cy="27432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93024" y="2944368"/>
            <a:ext cx="35204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467344" y="3163824"/>
            <a:ext cx="658368" cy="658368"/>
          </a:xfrm>
          <a:prstGeom prst="ellipse">
            <a:avLst/>
          </a:prstGeom>
          <a:solidFill>
            <a:srgbClr val="111A3A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3648" y="3310128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244584" y="31638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</a:t>
            </a:r>
            <a:endParaRPr lang="en-US" sz="2000" dirty="0"/>
          </a:p>
        </p:txBody>
      </p:sp>
      <p:sp>
        <p:nvSpPr>
          <p:cNvPr id="33" name="Text 22"/>
          <p:cNvSpPr/>
          <p:nvPr/>
        </p:nvSpPr>
        <p:spPr>
          <a:xfrm>
            <a:off x="8467344" y="39136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confidence, reasons to approve / decline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548640" y="4864608"/>
            <a:ext cx="2670048" cy="1060704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5047488"/>
            <a:ext cx="365760" cy="3657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261872" y="501091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804672" y="546811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reject · reopen · override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3383280" y="4864608"/>
            <a:ext cx="2670048" cy="1060704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1024" y="5047488"/>
            <a:ext cx="365760" cy="36576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096512" y="501091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</a:t>
            </a:r>
            <a:endParaRPr lang="en-US" sz="1300" dirty="0"/>
          </a:p>
        </p:txBody>
      </p:sp>
      <p:sp>
        <p:nvSpPr>
          <p:cNvPr id="41" name="Text 28"/>
          <p:cNvSpPr/>
          <p:nvPr/>
        </p:nvSpPr>
        <p:spPr>
          <a:xfrm>
            <a:off x="3639312" y="546811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· adjuster · investigation · decline</a:t>
            </a:r>
            <a:endParaRPr lang="en-US" sz="1050" dirty="0"/>
          </a:p>
        </p:txBody>
      </p:sp>
      <p:sp>
        <p:nvSpPr>
          <p:cNvPr id="42" name="Shape 29"/>
          <p:cNvSpPr/>
          <p:nvPr/>
        </p:nvSpPr>
        <p:spPr>
          <a:xfrm>
            <a:off x="6217920" y="4864608"/>
            <a:ext cx="2670048" cy="1060704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5664" y="5047488"/>
            <a:ext cx="365760" cy="36576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931152" y="501091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outbox</a:t>
            </a:r>
            <a:endParaRPr lang="en-US" sz="1300" dirty="0"/>
          </a:p>
        </p:txBody>
      </p:sp>
      <p:sp>
        <p:nvSpPr>
          <p:cNvPr id="45" name="Text 31"/>
          <p:cNvSpPr/>
          <p:nvPr/>
        </p:nvSpPr>
        <p:spPr>
          <a:xfrm>
            <a:off x="6473952" y="546811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logged and exportable</a:t>
            </a:r>
            <a:endParaRPr lang="en-US" sz="1050" dirty="0"/>
          </a:p>
        </p:txBody>
      </p:sp>
      <p:sp>
        <p:nvSpPr>
          <p:cNvPr id="46" name="Shape 32"/>
          <p:cNvSpPr/>
          <p:nvPr/>
        </p:nvSpPr>
        <p:spPr>
          <a:xfrm>
            <a:off x="9052560" y="4864608"/>
            <a:ext cx="2670048" cy="1060704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0304" y="5047488"/>
            <a:ext cx="365760" cy="36576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9765792" y="501091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re-evaluate</a:t>
            </a:r>
            <a:endParaRPr lang="en-US" sz="1300" dirty="0"/>
          </a:p>
        </p:txBody>
      </p:sp>
      <p:sp>
        <p:nvSpPr>
          <p:cNvPr id="49" name="Text 34"/>
          <p:cNvSpPr/>
          <p:nvPr/>
        </p:nvSpPr>
        <p:spPr>
          <a:xfrm>
            <a:off x="9308592" y="546811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on the file · add data and rerun</a:t>
            </a:r>
            <a:endParaRPr lang="en-US" sz="1050" dirty="0"/>
          </a:p>
        </p:txBody>
      </p:sp>
      <p:sp>
        <p:nvSpPr>
          <p:cNvPr id="50" name="Text 35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specialized agents</a:t>
            </a:r>
            <a:pPr indent="0" marL="0">
              <a:buNone/>
            </a:pPr>
            <a:r>
              <a:rPr lang="en-US" sz="12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Guardrail: triage confidence &lt; 0.7 forces human review.</a:t>
            </a:r>
            <a:endParaRPr lang="en-US" sz="1200" dirty="0"/>
          </a:p>
        </p:txBody>
      </p:sp>
      <p:sp>
        <p:nvSpPr>
          <p:cNvPr id="51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· HCLTech–OpenAI Agentic AI Hackathon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judges see in 90 seconds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call, a photo, a PDF or an email — the agents work live.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315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2494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08760" y="2615184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form + email → one claim file with the clause quoted verbatim, ready to approve.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7315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429000"/>
            <a:ext cx="91440" cy="1188720"/>
          </a:xfrm>
          <a:prstGeom prst="rect">
            <a:avLst/>
          </a:prstGeom>
          <a:solidFill>
            <a:srgbClr val="F4A25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94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5753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case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508760" y="3941064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claim → the agent doesn't invent: it drafts and logs an outreach asking for what's missing.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7315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4754880"/>
            <a:ext cx="91440" cy="1188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20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9011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508760" y="5266944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with inconsistencies → investigation route, fraud flags, full audit trail.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0" y="210312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B14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45820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PANEL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503920" y="271576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19"/>
          <p:cNvSpPr/>
          <p:nvPr/>
        </p:nvSpPr>
        <p:spPr>
          <a:xfrm>
            <a:off x="877824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EvidenceIntake — reading…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503920" y="32461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1"/>
          <p:cNvSpPr/>
          <p:nvPr/>
        </p:nvSpPr>
        <p:spPr>
          <a:xfrm>
            <a:off x="87782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IntakeAgent — extracting…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503920" y="377647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3"/>
          <p:cNvSpPr/>
          <p:nvPr/>
        </p:nvSpPr>
        <p:spPr>
          <a:xfrm>
            <a:off x="8778240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PolicyAgent — checking…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503920" y="4306824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5"/>
          <p:cNvSpPr/>
          <p:nvPr/>
        </p:nvSpPr>
        <p:spPr>
          <a:xfrm>
            <a:off x="8778240" y="4215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TriageAgent — routing…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503920" y="48371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7"/>
          <p:cNvSpPr/>
          <p:nvPr/>
        </p:nvSpPr>
        <p:spPr>
          <a:xfrm>
            <a:off x="8778240" y="4745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— file ready ✓</a:t>
            </a:r>
            <a:endParaRPr lang="en-US" sz="11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544068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887968" y="5394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can reopen, re-evaluate, override the route and ask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minutes, with industry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0" cy="3977640"/>
          </a:xfrm>
          <a:prstGeom prst="rect">
            <a:avLst/>
          </a:prstGeom>
          <a:solidFill>
            <a:srgbClr val="111A3A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processing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b="1" strike="sngStrike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4–8 h</a:t>
            </a:r>
            <a:endParaRPr lang="en-US" sz="3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5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→  with ClaimPilot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up to −50% process time and −25/30% costs in claims.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40680" y="1920240"/>
            <a:ext cx="30175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17627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96712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715000" y="3127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time — real case from a regional insurer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41080" y="1920240"/>
            <a:ext cx="30175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17627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97112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$2.3M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8915400" y="3127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 in that same case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40680" y="3913632"/>
            <a:ext cx="30175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16966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96712" y="46268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10–15% → 40–60%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5715000" y="5120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intake (straight-through) in P&amp;C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641080" y="3913632"/>
            <a:ext cx="30175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169664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97112" y="46268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 pts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8915400" y="5120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(NPS) in the real case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Helperfy case study · McKinsey · P&amp;C industry benchmarks. Reference figures for the pitch.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· HCLTech–OpenAI Agentic AI Hackathon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pattern, many value chains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and appeals (prior auth)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40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957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590288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and SAR/STR narratives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22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3957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339328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disputes and shipment exceptions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9EE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plan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08760" y="49377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insurers.   </a:t>
            </a:r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</a:t>
            </a:r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the claims core via MCP, more lines (home, health) and voice input in production.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· HCLTech–OpenAI Agentic AI Hackathon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258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minutes.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explained, cited and auditable.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937760" y="457200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ClaimPilot · built with the OpenAI Agents SDK and Codex · 100% synthetic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ClaimPilot</dc:title>
  <dc:subject>PptxGenJS Presentation</dc:subject>
  <dc:creator>Alfonso</dc:creator>
  <cp:lastModifiedBy>Alfonso</cp:lastModifiedBy>
  <cp:revision>1</cp:revision>
  <dcterms:created xsi:type="dcterms:W3CDTF">2026-06-15T17:04:27Z</dcterms:created>
  <dcterms:modified xsi:type="dcterms:W3CDTF">2026-06-15T17:04:27Z</dcterms:modified>
</cp:coreProperties>
</file>